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2" r:id="rId6"/>
    <p:sldId id="264" r:id="rId7"/>
    <p:sldId id="265" r:id="rId8"/>
    <p:sldId id="267" r:id="rId9"/>
    <p:sldId id="268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</p:sldIdLst>
  <p:sldSz cx="12192000" cy="6858000"/>
  <p:notesSz cx="6858000" cy="91440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5" roundtripDataSignature="AMtx7mjwe2iLdk+k2CJH3PNKos+dz7HK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1E4A21-E51E-4EA0-9900-9AE3DA50A4EE}">
  <a:tblStyle styleId="{0E1E4A21-E51E-4EA0-9900-9AE3DA50A4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F4139E7-9ED7-433F-8121-6E9212036FFC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E33AF5-1254-40D2-A0C9-9DA6DC1D0EF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9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2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2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2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2"/>
          <p:cNvSpPr txBox="1">
            <a:spLocks noGrp="1"/>
          </p:cNvSpPr>
          <p:nvPr>
            <p:ph type="sldNum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3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3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8" name="Google Shape;48;p7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4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4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7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4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4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5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2" name="Google Shape;62;p75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3" name="Google Shape;63;p7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5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6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6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76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1" name="Google Shape;71;p76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76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3" name="Google Shape;73;p7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7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8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9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9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1" name="Google Shape;91;p79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7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0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0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80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8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8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1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81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8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1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1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2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82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4" name="Google Shape;114;p82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8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2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2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8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8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3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83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4" name="Google Shape;124;p8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8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83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4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84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1" name="Google Shape;131;p84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2" name="Google Shape;132;p8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8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84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4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8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8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5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5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1" name="Google Shape;141;p85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2" name="Google Shape;142;p8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5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5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6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86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9" name="Google Shape;149;p8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8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8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7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7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6" name="Google Shape;156;p8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8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8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7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7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7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7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7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7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7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7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7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7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7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7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7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7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71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7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7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7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7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7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7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7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7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7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7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7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7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1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" name="Google Shape;35;p7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6" name="Google Shape;36;p7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7" name="Google Shape;37;p7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>
            <a:spLocks noGrp="1"/>
          </p:cNvSpPr>
          <p:nvPr>
            <p:ph type="ctrTitle"/>
          </p:nvPr>
        </p:nvSpPr>
        <p:spPr>
          <a:xfrm>
            <a:off x="1579418" y="3297381"/>
            <a:ext cx="10224655" cy="9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Oriented Programming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Google Shape;165;p1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												</a:t>
            </a:r>
            <a:r>
              <a:rPr lang="en-US" b="1"/>
              <a:t>	Bhavisha Patel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78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b="1" u="sng" dirty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b="1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tatic </a:t>
            </a:r>
            <a:r>
              <a:rPr lang="en-US" b="1" u="sng" dirty="0">
                <a:latin typeface="Times New Roman"/>
                <a:ea typeface="Times New Roman"/>
                <a:cs typeface="Times New Roman"/>
                <a:sym typeface="Times New Roman"/>
              </a:rPr>
              <a:t>keyword</a:t>
            </a:r>
            <a:r>
              <a:rPr lang="en-US" b="1" dirty="0" smtClean="0"/>
              <a:t/>
            </a:r>
            <a:br>
              <a:rPr lang="en-US" b="1" dirty="0" smtClean="0"/>
            </a:br>
            <a:endParaRPr dirty="0"/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2589212" y="1409700"/>
            <a:ext cx="8915400" cy="4501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static keyword in Java is used for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memory management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mainly. </a:t>
            </a:r>
            <a:endParaRPr lang="en-US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can apply static keyword with variables, methods, blocks and nested classes. </a:t>
            </a:r>
            <a:endParaRPr lang="en-US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SzPts val="2000"/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static can be:</a:t>
            </a:r>
          </a:p>
          <a:p>
            <a:pPr marL="0" lvl="0" indent="0">
              <a:spcBef>
                <a:spcPts val="0"/>
              </a:spcBef>
              <a:buSzPts val="2000"/>
              <a:buNone/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Variable </a:t>
            </a:r>
            <a:endParaRPr lang="en-US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 </a:t>
            </a:r>
          </a:p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Block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Nested class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/>
            </a:r>
            <a:b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5308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Static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579418"/>
            <a:ext cx="8915400" cy="433180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declare any variable as static, it is known as a static variable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variable can be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refer to the common property of all objects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(which is not unique for each object), for example, the company name of employees, college name of students, etc.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variable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 memory only once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class area at the time of class loading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static property is shared to all objects.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94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374073"/>
            <a:ext cx="8911687" cy="651163"/>
          </a:xfrm>
        </p:spPr>
        <p:txBody>
          <a:bodyPr>
            <a:normAutofit/>
          </a:bodyPr>
          <a:lstStyle/>
          <a:p>
            <a:r>
              <a:rPr lang="en-US" b="1" dirty="0"/>
              <a:t>Example of static variable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205345"/>
            <a:ext cx="5226676" cy="523701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dirty="0"/>
              <a:t>class Student{  </a:t>
            </a:r>
          </a:p>
          <a:p>
            <a:pPr marL="11430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rollno</a:t>
            </a:r>
            <a:r>
              <a:rPr lang="en-US" sz="2000" dirty="0"/>
              <a:t>;//instance variable  </a:t>
            </a:r>
          </a:p>
          <a:p>
            <a:pPr marL="114300" indent="0">
              <a:buNone/>
            </a:pPr>
            <a:r>
              <a:rPr lang="en-US" sz="2000" dirty="0"/>
              <a:t>   String name;  </a:t>
            </a:r>
          </a:p>
          <a:p>
            <a:pPr marL="114300" indent="0">
              <a:buNone/>
            </a:pPr>
            <a:r>
              <a:rPr lang="en-US" sz="2000" dirty="0"/>
              <a:t>   static String college ="ITS</a:t>
            </a:r>
            <a:r>
              <a:rPr lang="en-US" sz="2000" dirty="0" smtClean="0"/>
              <a:t>"; 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  Student(</a:t>
            </a:r>
            <a:r>
              <a:rPr lang="en-US" sz="2000" dirty="0" err="1"/>
              <a:t>int</a:t>
            </a:r>
            <a:r>
              <a:rPr lang="en-US" sz="2000" dirty="0"/>
              <a:t> r, String n){  </a:t>
            </a:r>
          </a:p>
          <a:p>
            <a:pPr marL="11430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rollno</a:t>
            </a:r>
            <a:r>
              <a:rPr lang="en-US" sz="2000" dirty="0"/>
              <a:t> = r;  </a:t>
            </a:r>
          </a:p>
          <a:p>
            <a:pPr marL="114300" indent="0">
              <a:buNone/>
            </a:pPr>
            <a:r>
              <a:rPr lang="en-US" sz="2000" dirty="0"/>
              <a:t>   name = n;  </a:t>
            </a:r>
          </a:p>
          <a:p>
            <a:pPr marL="114300" indent="0">
              <a:buNone/>
            </a:pPr>
            <a:r>
              <a:rPr lang="en-US" sz="2000" dirty="0"/>
              <a:t>   }  </a:t>
            </a:r>
          </a:p>
          <a:p>
            <a:pPr marL="114300" indent="0">
              <a:buNone/>
            </a:pPr>
            <a:r>
              <a:rPr lang="en-US" sz="2000" dirty="0" smtClean="0"/>
              <a:t>void </a:t>
            </a:r>
            <a:r>
              <a:rPr lang="en-US" sz="2000" dirty="0"/>
              <a:t>display (){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rollno</a:t>
            </a:r>
            <a:r>
              <a:rPr lang="en-US" sz="2000" dirty="0"/>
              <a:t>+" "+name+" "+college);}  </a:t>
            </a:r>
          </a:p>
          <a:p>
            <a:pPr marL="114300" indent="0">
              <a:buNone/>
            </a:pPr>
            <a:r>
              <a:rPr lang="en-US" sz="2000" dirty="0"/>
              <a:t>}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190747" y="1205345"/>
            <a:ext cx="4682598" cy="5237019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2000" dirty="0"/>
              <a:t>public class TestStaticVariable1{  </a:t>
            </a:r>
          </a:p>
          <a:p>
            <a:pPr marL="114300" indent="0">
              <a:buNone/>
            </a:pPr>
            <a:r>
              <a:rPr lang="en-US" sz="2000" dirty="0"/>
              <a:t> 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[]){  </a:t>
            </a:r>
          </a:p>
          <a:p>
            <a:pPr marL="114300" indent="0">
              <a:buNone/>
            </a:pPr>
            <a:r>
              <a:rPr lang="en-US" sz="2000" dirty="0"/>
              <a:t> Student s1 = new Student(111,"Karan");  </a:t>
            </a:r>
          </a:p>
          <a:p>
            <a:pPr marL="114300" indent="0">
              <a:buNone/>
            </a:pPr>
            <a:r>
              <a:rPr lang="en-US" sz="2000" dirty="0"/>
              <a:t> Student s2 = new Student(222,"Aryan</a:t>
            </a:r>
            <a:r>
              <a:rPr lang="en-US" sz="2000" dirty="0" smtClean="0"/>
              <a:t>");</a:t>
            </a:r>
          </a:p>
          <a:p>
            <a:pPr marL="114300" indent="0">
              <a:buNone/>
            </a:pPr>
            <a:r>
              <a:rPr lang="en-US" sz="2000" dirty="0" smtClean="0"/>
              <a:t>  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 //we can change the college of all objects by the single line of code  </a:t>
            </a:r>
          </a:p>
          <a:p>
            <a:pPr marL="114300" indent="0">
              <a:buNone/>
            </a:pPr>
            <a:r>
              <a:rPr lang="en-US" sz="2000" dirty="0"/>
              <a:t> //</a:t>
            </a:r>
            <a:r>
              <a:rPr lang="en-US" sz="2000" dirty="0" err="1"/>
              <a:t>Student.college</a:t>
            </a:r>
            <a:r>
              <a:rPr lang="en-US" sz="2000" dirty="0"/>
              <a:t>="BBDIT";  </a:t>
            </a:r>
          </a:p>
          <a:p>
            <a:pPr marL="114300" indent="0">
              <a:buNone/>
            </a:pPr>
            <a:r>
              <a:rPr lang="en-US" sz="2000" dirty="0"/>
              <a:t> s1.display();  </a:t>
            </a:r>
          </a:p>
          <a:p>
            <a:pPr marL="114300" indent="0">
              <a:buNone/>
            </a:pPr>
            <a:r>
              <a:rPr lang="en-US" sz="2000" dirty="0"/>
              <a:t> s2.display();  </a:t>
            </a:r>
          </a:p>
          <a:p>
            <a:pPr marL="114300" indent="0">
              <a:buNone/>
            </a:pPr>
            <a:r>
              <a:rPr lang="en-US" sz="2000" dirty="0"/>
              <a:t> }  </a:t>
            </a:r>
          </a:p>
          <a:p>
            <a:pPr marL="114300" indent="0">
              <a:buNone/>
            </a:pPr>
            <a:r>
              <a:rPr lang="en-US" sz="2000" dirty="0"/>
              <a:t>}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75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2181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496291"/>
            <a:ext cx="8915400" cy="441493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111 Karan ITS</a:t>
            </a:r>
          </a:p>
          <a:p>
            <a:pPr marL="114300" indent="0">
              <a:buNone/>
            </a:pPr>
            <a:r>
              <a:rPr lang="en-US" dirty="0"/>
              <a:t>222 Aryan ITS</a:t>
            </a:r>
          </a:p>
        </p:txBody>
      </p:sp>
    </p:spTree>
    <p:extLst>
      <p:ext uri="{BB962C8B-B14F-4D97-AF65-F5344CB8AC3E}">
        <p14:creationId xmlns:p14="http://schemas.microsoft.com/office/powerpoint/2010/main" val="1832978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64" y="498764"/>
            <a:ext cx="8950036" cy="601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7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2) </a:t>
            </a:r>
            <a:r>
              <a:rPr lang="en-US" b="1" dirty="0"/>
              <a:t>S</a:t>
            </a:r>
            <a:r>
              <a:rPr lang="en-US" b="1" dirty="0" smtClean="0"/>
              <a:t>tatic </a:t>
            </a:r>
            <a:r>
              <a:rPr lang="en-US" b="1" dirty="0"/>
              <a:t>method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510145"/>
            <a:ext cx="8915400" cy="4655128"/>
          </a:xfrm>
        </p:spPr>
        <p:txBody>
          <a:bodyPr>
            <a:normAutofit/>
          </a:bodyPr>
          <a:lstStyle/>
          <a:p>
            <a:r>
              <a:rPr lang="en-US" sz="2000" dirty="0"/>
              <a:t>If you apply static keyword with any method, it is known as static method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/>
              <a:t>A static method belongs to the class rather than the object of a class.</a:t>
            </a:r>
          </a:p>
          <a:p>
            <a:r>
              <a:rPr lang="en-US" sz="2000" dirty="0"/>
              <a:t>A static method can be invoked without the need for creating an instance of a class.</a:t>
            </a:r>
          </a:p>
          <a:p>
            <a:r>
              <a:rPr lang="en-US" sz="2000" dirty="0"/>
              <a:t>A static method can access static data member and can change the value of it.</a:t>
            </a:r>
          </a:p>
        </p:txBody>
      </p:sp>
    </p:spTree>
    <p:extLst>
      <p:ext uri="{BB962C8B-B14F-4D97-AF65-F5344CB8AC3E}">
        <p14:creationId xmlns:p14="http://schemas.microsoft.com/office/powerpoint/2010/main" val="358037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374073"/>
            <a:ext cx="8911687" cy="651163"/>
          </a:xfrm>
        </p:spPr>
        <p:txBody>
          <a:bodyPr>
            <a:normAutofit/>
          </a:bodyPr>
          <a:lstStyle/>
          <a:p>
            <a:r>
              <a:rPr lang="en-US" b="1" dirty="0"/>
              <a:t>Example of static </a:t>
            </a:r>
            <a:r>
              <a:rPr lang="en-US" b="1" dirty="0" smtClean="0"/>
              <a:t>method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025237"/>
            <a:ext cx="5226676" cy="556952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class</a:t>
            </a:r>
            <a:r>
              <a:rPr lang="en-US" dirty="0"/>
              <a:t> Student{  </a:t>
            </a:r>
          </a:p>
          <a:p>
            <a:pPr marL="114300" indent="0">
              <a:buNone/>
            </a:pPr>
            <a:r>
              <a:rPr lang="en-US" dirty="0"/>
              <a:t>     </a:t>
            </a:r>
            <a:r>
              <a:rPr lang="en-US" b="1" dirty="0" err="1"/>
              <a:t>int</a:t>
            </a:r>
            <a:r>
              <a:rPr lang="en-US" dirty="0"/>
              <a:t> </a:t>
            </a:r>
            <a:r>
              <a:rPr lang="en-US" dirty="0" err="1"/>
              <a:t>rollno</a:t>
            </a:r>
            <a:r>
              <a:rPr lang="en-US" dirty="0"/>
              <a:t>;  </a:t>
            </a:r>
          </a:p>
          <a:p>
            <a:pPr marL="114300" indent="0">
              <a:buNone/>
            </a:pPr>
            <a:r>
              <a:rPr lang="en-US" dirty="0"/>
              <a:t>     String name;  </a:t>
            </a:r>
          </a:p>
          <a:p>
            <a:pPr marL="114300" indent="0">
              <a:buNone/>
            </a:pPr>
            <a:r>
              <a:rPr lang="en-US" dirty="0"/>
              <a:t>     </a:t>
            </a:r>
            <a:r>
              <a:rPr lang="en-US" b="1" dirty="0"/>
              <a:t>static</a:t>
            </a:r>
            <a:r>
              <a:rPr lang="en-US" dirty="0"/>
              <a:t> String college = "ITS";   </a:t>
            </a:r>
          </a:p>
          <a:p>
            <a:pPr marL="114300" indent="0">
              <a:buNone/>
            </a:pPr>
            <a:r>
              <a:rPr lang="en-US" dirty="0"/>
              <a:t>    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change(){  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smtClean="0"/>
              <a:t>college</a:t>
            </a:r>
            <a:r>
              <a:rPr lang="en-US" dirty="0"/>
              <a:t> = "BBDIT";  </a:t>
            </a:r>
          </a:p>
          <a:p>
            <a:pPr marL="114300" indent="0">
              <a:buNone/>
            </a:pPr>
            <a:r>
              <a:rPr lang="en-US" dirty="0"/>
              <a:t>     }  </a:t>
            </a:r>
          </a:p>
          <a:p>
            <a:pPr marL="114300" indent="0">
              <a:buNone/>
            </a:pPr>
            <a:r>
              <a:rPr lang="en-US" dirty="0"/>
              <a:t>       Student(</a:t>
            </a:r>
            <a:r>
              <a:rPr lang="en-US" b="1" dirty="0" err="1"/>
              <a:t>int</a:t>
            </a:r>
            <a:r>
              <a:rPr lang="en-US" dirty="0"/>
              <a:t> r, String n){  </a:t>
            </a:r>
          </a:p>
          <a:p>
            <a:pPr marL="114300" indent="0">
              <a:buNone/>
            </a:pPr>
            <a:r>
              <a:rPr lang="en-US" dirty="0"/>
              <a:t>     </a:t>
            </a:r>
            <a:r>
              <a:rPr lang="en-US" dirty="0" err="1"/>
              <a:t>rollno</a:t>
            </a:r>
            <a:r>
              <a:rPr lang="en-US" dirty="0"/>
              <a:t> = r;  </a:t>
            </a:r>
          </a:p>
          <a:p>
            <a:pPr marL="114300" indent="0">
              <a:buNone/>
            </a:pPr>
            <a:r>
              <a:rPr lang="en-US" dirty="0"/>
              <a:t>     name = n;  </a:t>
            </a:r>
          </a:p>
          <a:p>
            <a:pPr marL="114300" indent="0">
              <a:buNone/>
            </a:pPr>
            <a:r>
              <a:rPr lang="en-US" dirty="0"/>
              <a:t>     }  </a:t>
            </a:r>
          </a:p>
          <a:p>
            <a:pPr marL="114300" indent="0">
              <a:buNone/>
            </a:pPr>
            <a:r>
              <a:rPr lang="en-US" dirty="0"/>
              <a:t>    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display(){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rollno</a:t>
            </a:r>
            <a:r>
              <a:rPr lang="en-US" dirty="0"/>
              <a:t>+" "+name+" "+college);}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   </a:t>
            </a:r>
          </a:p>
          <a:p>
            <a:pPr marL="114300" indent="0">
              <a:buNone/>
            </a:pPr>
            <a:r>
              <a:rPr lang="en-US" sz="2000" dirty="0" smtClean="0"/>
              <a:t>  </a:t>
            </a:r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190747" y="1205345"/>
            <a:ext cx="4682598" cy="5237019"/>
          </a:xfrm>
        </p:spPr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en-US" sz="2000" dirty="0"/>
              <a:t> </a:t>
            </a:r>
            <a:r>
              <a:rPr lang="en-US" sz="2000" b="1" dirty="0" smtClean="0"/>
              <a:t>public</a:t>
            </a:r>
            <a:r>
              <a:rPr lang="en-US" sz="2000" dirty="0"/>
              <a:t> </a:t>
            </a:r>
            <a:r>
              <a:rPr lang="en-US" sz="2000" b="1" dirty="0"/>
              <a:t>class</a:t>
            </a:r>
            <a:r>
              <a:rPr lang="en-US" sz="2000" dirty="0"/>
              <a:t> </a:t>
            </a:r>
            <a:r>
              <a:rPr lang="en-US" sz="2000" dirty="0" err="1"/>
              <a:t>TestStaticMethod</a:t>
            </a:r>
            <a:r>
              <a:rPr lang="en-US" sz="2000" dirty="0"/>
              <a:t>{  </a:t>
            </a:r>
          </a:p>
          <a:p>
            <a:pPr marL="114300" indent="0">
              <a:buNone/>
            </a:pPr>
            <a:r>
              <a:rPr lang="en-US" sz="2000" dirty="0"/>
              <a:t>  </a:t>
            </a:r>
            <a:r>
              <a:rPr lang="en-US" sz="2000" dirty="0" smtClean="0"/>
              <a:t> </a:t>
            </a:r>
            <a:r>
              <a:rPr lang="en-US" sz="2000" dirty="0"/>
              <a:t> </a:t>
            </a:r>
            <a:r>
              <a:rPr lang="en-US" sz="2000" b="1" dirty="0"/>
              <a:t>public</a:t>
            </a:r>
            <a:r>
              <a:rPr lang="en-US" sz="2000" dirty="0"/>
              <a:t> </a:t>
            </a:r>
            <a:r>
              <a:rPr lang="en-US" sz="2000" b="1" dirty="0"/>
              <a:t>static</a:t>
            </a:r>
            <a:r>
              <a:rPr lang="en-US" sz="2000" dirty="0"/>
              <a:t> </a:t>
            </a:r>
            <a:r>
              <a:rPr lang="en-US" sz="2000" b="1" dirty="0"/>
              <a:t>void</a:t>
            </a:r>
            <a:r>
              <a:rPr lang="en-US" sz="2000" dirty="0"/>
              <a:t> main(String </a:t>
            </a:r>
            <a:r>
              <a:rPr lang="en-US" sz="2000" dirty="0" err="1"/>
              <a:t>args</a:t>
            </a:r>
            <a:r>
              <a:rPr lang="en-US" sz="2000" dirty="0"/>
              <a:t>[]){  </a:t>
            </a:r>
          </a:p>
          <a:p>
            <a:pPr marL="114300" indent="0">
              <a:buNone/>
            </a:pPr>
            <a:r>
              <a:rPr lang="en-US" sz="2000" dirty="0"/>
              <a:t>    </a:t>
            </a:r>
            <a:r>
              <a:rPr lang="en-US" sz="2000" dirty="0" err="1"/>
              <a:t>Student.change</a:t>
            </a:r>
            <a:r>
              <a:rPr lang="en-US" sz="2000" dirty="0"/>
              <a:t>();//calling change method  </a:t>
            </a:r>
          </a:p>
          <a:p>
            <a:pPr marL="114300" indent="0">
              <a:buNone/>
            </a:pPr>
            <a:r>
              <a:rPr lang="en-US" sz="2000" dirty="0"/>
              <a:t>        Student s1 = </a:t>
            </a:r>
            <a:r>
              <a:rPr lang="en-US" sz="2000" b="1" dirty="0"/>
              <a:t>new</a:t>
            </a:r>
            <a:r>
              <a:rPr lang="en-US" sz="2000" dirty="0"/>
              <a:t> Student(111,"Karan");  </a:t>
            </a:r>
          </a:p>
          <a:p>
            <a:pPr marL="114300" indent="0">
              <a:buNone/>
            </a:pPr>
            <a:r>
              <a:rPr lang="en-US" sz="2000" dirty="0"/>
              <a:t>    Student s2 = </a:t>
            </a:r>
            <a:r>
              <a:rPr lang="en-US" sz="2000" b="1" dirty="0"/>
              <a:t>new</a:t>
            </a:r>
            <a:r>
              <a:rPr lang="en-US" sz="2000" dirty="0"/>
              <a:t> Student(222,"Aryan");  </a:t>
            </a:r>
          </a:p>
          <a:p>
            <a:pPr marL="114300" indent="0">
              <a:buNone/>
            </a:pPr>
            <a:r>
              <a:rPr lang="en-US" sz="2000" dirty="0"/>
              <a:t>    Student s3 = </a:t>
            </a:r>
            <a:r>
              <a:rPr lang="en-US" sz="2000" b="1" dirty="0"/>
              <a:t>new</a:t>
            </a:r>
            <a:r>
              <a:rPr lang="en-US" sz="2000" dirty="0"/>
              <a:t> Student(333,"Sonoo");  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    </a:t>
            </a:r>
            <a:r>
              <a:rPr lang="en-US" sz="2000" dirty="0" smtClean="0"/>
              <a:t>s1.display</a:t>
            </a:r>
            <a:r>
              <a:rPr lang="en-US" sz="2000" dirty="0"/>
              <a:t>();  </a:t>
            </a:r>
          </a:p>
          <a:p>
            <a:pPr marL="114300" indent="0">
              <a:buNone/>
            </a:pPr>
            <a:r>
              <a:rPr lang="en-US" sz="2000" dirty="0"/>
              <a:t>    s2.display();  </a:t>
            </a:r>
          </a:p>
          <a:p>
            <a:pPr marL="114300" indent="0">
              <a:buNone/>
            </a:pPr>
            <a:r>
              <a:rPr lang="en-US" sz="2000" dirty="0"/>
              <a:t>    s3.display();  </a:t>
            </a:r>
          </a:p>
          <a:p>
            <a:pPr marL="114300" indent="0">
              <a:buNone/>
            </a:pPr>
            <a:r>
              <a:rPr lang="en-US" sz="2000" dirty="0"/>
              <a:t>    }  </a:t>
            </a:r>
          </a:p>
          <a:p>
            <a:pPr marL="114300" indent="0">
              <a:buNone/>
            </a:pPr>
            <a:r>
              <a:rPr lang="en-US" sz="2000" dirty="0"/>
              <a:t>}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8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2181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496291"/>
            <a:ext cx="8915400" cy="441493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111 Karan BBDIT</a:t>
            </a:r>
          </a:p>
          <a:p>
            <a:pPr marL="114300" indent="0">
              <a:buNone/>
            </a:pPr>
            <a:r>
              <a:rPr lang="en-US" dirty="0" smtClean="0"/>
              <a:t>222 </a:t>
            </a:r>
            <a:r>
              <a:rPr lang="en-US" dirty="0"/>
              <a:t>Aryan BBDIT</a:t>
            </a:r>
          </a:p>
          <a:p>
            <a:pPr marL="114300" indent="0">
              <a:buNone/>
            </a:pPr>
            <a:r>
              <a:rPr lang="en-US" dirty="0" smtClean="0"/>
              <a:t>333 </a:t>
            </a:r>
            <a:r>
              <a:rPr lang="en-US" dirty="0" err="1"/>
              <a:t>Sonoo</a:t>
            </a:r>
            <a:r>
              <a:rPr lang="en-US" dirty="0"/>
              <a:t> BBDIT</a:t>
            </a:r>
          </a:p>
        </p:txBody>
      </p:sp>
    </p:spTree>
    <p:extLst>
      <p:ext uri="{BB962C8B-B14F-4D97-AF65-F5344CB8AC3E}">
        <p14:creationId xmlns:p14="http://schemas.microsoft.com/office/powerpoint/2010/main" val="2058427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Another example of a static method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3055" y="1524000"/>
            <a:ext cx="5670021" cy="43872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class</a:t>
            </a:r>
            <a:r>
              <a:rPr lang="en-US" dirty="0"/>
              <a:t> Calculate{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 err="1"/>
              <a:t>int</a:t>
            </a:r>
            <a:r>
              <a:rPr lang="en-US" dirty="0"/>
              <a:t> cube(</a:t>
            </a:r>
            <a:r>
              <a:rPr lang="en-US" b="1" dirty="0" err="1"/>
              <a:t>int</a:t>
            </a:r>
            <a:r>
              <a:rPr lang="en-US" dirty="0"/>
              <a:t> x){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/>
              <a:t>return</a:t>
            </a:r>
            <a:r>
              <a:rPr lang="en-US" dirty="0"/>
              <a:t> x*x*x;  </a:t>
            </a:r>
          </a:p>
          <a:p>
            <a:pPr marL="114300" indent="0">
              <a:buNone/>
            </a:pPr>
            <a:r>
              <a:rPr lang="en-US" dirty="0"/>
              <a:t>  }  </a:t>
            </a:r>
          </a:p>
          <a:p>
            <a:pPr marL="114300" indent="0">
              <a:buNone/>
            </a:pPr>
            <a:r>
              <a:rPr lang="en-US" dirty="0"/>
              <a:t>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 err="1"/>
              <a:t>int</a:t>
            </a:r>
            <a:r>
              <a:rPr lang="en-US" dirty="0"/>
              <a:t> result=</a:t>
            </a:r>
            <a:r>
              <a:rPr lang="en-US" dirty="0" err="1"/>
              <a:t>Calculate.cube</a:t>
            </a:r>
            <a:r>
              <a:rPr lang="en-US" dirty="0"/>
              <a:t>(5);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dirty="0" err="1"/>
              <a:t>System.out.println</a:t>
            </a:r>
            <a:r>
              <a:rPr lang="en-US" dirty="0"/>
              <a:t>(result);  </a:t>
            </a:r>
          </a:p>
          <a:p>
            <a:pPr marL="114300" indent="0">
              <a:buNone/>
            </a:pPr>
            <a:r>
              <a:rPr lang="en-US" dirty="0"/>
              <a:t>  }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190747" y="1385455"/>
            <a:ext cx="4516344" cy="4835236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Output</a:t>
            </a:r>
            <a:r>
              <a:rPr lang="en-US" b="1" dirty="0" smtClean="0"/>
              <a:t>:    125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385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Restrictions for the static method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smtClean="0"/>
              <a:t>There </a:t>
            </a:r>
            <a:r>
              <a:rPr lang="en-US" dirty="0"/>
              <a:t>are two main restrictions for the static method. They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static method can not use non static data member or call non-static method directly.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and super cannot be used in static </a:t>
            </a:r>
            <a:r>
              <a:rPr lang="en-US" dirty="0" smtClean="0"/>
              <a:t>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86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S</a:t>
            </a:r>
            <a:r>
              <a:rPr lang="en-US" dirty="0" smtClean="0"/>
              <a:t>tatic </a:t>
            </a:r>
            <a:r>
              <a:rPr lang="en-US" dirty="0"/>
              <a:t>block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607127"/>
            <a:ext cx="8915400" cy="430409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Is </a:t>
            </a:r>
            <a:r>
              <a:rPr lang="en-US" dirty="0"/>
              <a:t>used to initialize the static data member.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 is executed before the main method at the time of </a:t>
            </a:r>
            <a:r>
              <a:rPr lang="en-US" dirty="0" err="1"/>
              <a:t>classloading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u="sng" dirty="0"/>
              <a:t>Example of static </a:t>
            </a:r>
            <a:r>
              <a:rPr lang="en-US" b="1" u="sng" dirty="0" smtClean="0"/>
              <a:t>block</a:t>
            </a:r>
          </a:p>
          <a:p>
            <a:pPr marL="114300" indent="0">
              <a:buNone/>
            </a:pPr>
            <a:endParaRPr lang="en-US" b="1" u="sng" dirty="0"/>
          </a:p>
          <a:p>
            <a:pPr marL="114300" indent="0">
              <a:buNone/>
            </a:pPr>
            <a:r>
              <a:rPr lang="en-US" b="1" dirty="0"/>
              <a:t>class</a:t>
            </a:r>
            <a:r>
              <a:rPr lang="en-US" dirty="0"/>
              <a:t> A2{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/>
              <a:t>static</a:t>
            </a:r>
            <a:r>
              <a:rPr lang="en-US" dirty="0"/>
              <a:t>{</a:t>
            </a:r>
            <a:r>
              <a:rPr lang="en-US" dirty="0" err="1"/>
              <a:t>System.out.println</a:t>
            </a:r>
            <a:r>
              <a:rPr lang="en-US" dirty="0"/>
              <a:t>("static block is invoked");}  </a:t>
            </a:r>
          </a:p>
          <a:p>
            <a:pPr marL="114300" indent="0">
              <a:buNone/>
            </a:pPr>
            <a:r>
              <a:rPr lang="en-US" dirty="0"/>
              <a:t> 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14300" indent="0">
              <a:buNone/>
            </a:pPr>
            <a:r>
              <a:rPr lang="en-US" dirty="0"/>
              <a:t>   </a:t>
            </a:r>
            <a:r>
              <a:rPr lang="en-US" dirty="0" err="1"/>
              <a:t>System.out.println</a:t>
            </a:r>
            <a:r>
              <a:rPr lang="en-US" dirty="0"/>
              <a:t>("Hello main");  </a:t>
            </a:r>
          </a:p>
          <a:p>
            <a:pPr marL="114300" indent="0">
              <a:buNone/>
            </a:pPr>
            <a:r>
              <a:rPr lang="en-US" dirty="0"/>
              <a:t>  }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29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67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this keyword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1" y="1870364"/>
            <a:ext cx="7135090" cy="422563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440873"/>
            <a:ext cx="8915400" cy="4752109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In Java, this is a </a:t>
            </a:r>
            <a:r>
              <a:rPr lang="en-US" b="1" dirty="0">
                <a:solidFill>
                  <a:srgbClr val="FF0000"/>
                </a:solidFill>
              </a:rPr>
              <a:t>reference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variable</a:t>
            </a:r>
            <a:r>
              <a:rPr lang="en-US" dirty="0"/>
              <a:t> that refers to the current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5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134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Usage of Java this keyword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43163" y="1514476"/>
            <a:ext cx="8201025" cy="4600574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122" name="Picture 2" descr="Usage of Java this keywo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1514477"/>
            <a:ext cx="7736938" cy="421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735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1) this: to refer current class instance variable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this keyword can be used </a:t>
            </a:r>
            <a:r>
              <a:rPr lang="en-US" dirty="0">
                <a:solidFill>
                  <a:srgbClr val="FF0000"/>
                </a:solidFill>
              </a:rPr>
              <a:t>to refer current class instance variable</a:t>
            </a:r>
            <a:r>
              <a:rPr lang="en-US" dirty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If </a:t>
            </a:r>
            <a:r>
              <a:rPr lang="en-US" dirty="0"/>
              <a:t>there is ambiguity between the instance variables and parameters, this keyword </a:t>
            </a:r>
            <a:r>
              <a:rPr lang="en-US" dirty="0">
                <a:solidFill>
                  <a:srgbClr val="FF0000"/>
                </a:solidFill>
              </a:rPr>
              <a:t>resolves the problem of ambiguity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this keyword to distinguish local variable and instance variable.</a:t>
            </a:r>
            <a:endParaRPr lang="en-US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4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56" y="374073"/>
            <a:ext cx="9658244" cy="651163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025237"/>
            <a:ext cx="5226676" cy="556952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dirty="0"/>
              <a:t>class Student{  </a:t>
            </a:r>
          </a:p>
          <a:p>
            <a:pPr marL="11430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rollno</a:t>
            </a:r>
            <a:r>
              <a:rPr lang="en-US" dirty="0"/>
              <a:t>;  </a:t>
            </a:r>
          </a:p>
          <a:p>
            <a:pPr marL="114300" indent="0">
              <a:buNone/>
            </a:pPr>
            <a:r>
              <a:rPr lang="en-US" dirty="0"/>
              <a:t>String name;  </a:t>
            </a:r>
          </a:p>
          <a:p>
            <a:pPr marL="114300" indent="0">
              <a:buNone/>
            </a:pPr>
            <a:r>
              <a:rPr lang="en-US" dirty="0"/>
              <a:t>float fee;  </a:t>
            </a:r>
          </a:p>
          <a:p>
            <a:pPr marL="114300" indent="0">
              <a:buNone/>
            </a:pPr>
            <a:r>
              <a:rPr lang="en-US" dirty="0"/>
              <a:t>Student(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rollno,String</a:t>
            </a:r>
            <a:r>
              <a:rPr lang="en-US" dirty="0"/>
              <a:t> </a:t>
            </a:r>
            <a:r>
              <a:rPr lang="en-US" dirty="0" err="1"/>
              <a:t>name,float</a:t>
            </a:r>
            <a:r>
              <a:rPr lang="en-US" dirty="0"/>
              <a:t> fee){  </a:t>
            </a:r>
          </a:p>
          <a:p>
            <a:pPr marL="114300" indent="0">
              <a:buNone/>
            </a:pPr>
            <a:r>
              <a:rPr lang="en-US" dirty="0" err="1"/>
              <a:t>this.rollno</a:t>
            </a:r>
            <a:r>
              <a:rPr lang="en-US" dirty="0"/>
              <a:t>=</a:t>
            </a:r>
            <a:r>
              <a:rPr lang="en-US" dirty="0" err="1"/>
              <a:t>rollno</a:t>
            </a:r>
            <a:r>
              <a:rPr lang="en-US" dirty="0"/>
              <a:t>;  </a:t>
            </a:r>
          </a:p>
          <a:p>
            <a:pPr marL="114300" indent="0">
              <a:buNone/>
            </a:pPr>
            <a:r>
              <a:rPr lang="en-US" dirty="0"/>
              <a:t>this.name=name;  </a:t>
            </a:r>
          </a:p>
          <a:p>
            <a:pPr marL="114300" indent="0">
              <a:buNone/>
            </a:pPr>
            <a:r>
              <a:rPr lang="en-US" dirty="0" err="1"/>
              <a:t>this.fee</a:t>
            </a:r>
            <a:r>
              <a:rPr lang="en-US" dirty="0"/>
              <a:t>=fee;  </a:t>
            </a:r>
          </a:p>
          <a:p>
            <a:pPr marL="114300" indent="0">
              <a:buNone/>
            </a:pPr>
            <a:r>
              <a:rPr lang="en-US" dirty="0"/>
              <a:t>}  </a:t>
            </a:r>
          </a:p>
          <a:p>
            <a:pPr marL="114300" indent="0">
              <a:buNone/>
            </a:pPr>
            <a:r>
              <a:rPr lang="en-US" dirty="0"/>
              <a:t>void display(){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rollno</a:t>
            </a:r>
            <a:r>
              <a:rPr lang="en-US" dirty="0"/>
              <a:t>+" "+name+" "+fee);}  </a:t>
            </a:r>
          </a:p>
          <a:p>
            <a:pPr marL="114300" indent="0">
              <a:buNone/>
            </a:pPr>
            <a:r>
              <a:rPr lang="en-US" dirty="0"/>
              <a:t>} 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   </a:t>
            </a:r>
          </a:p>
          <a:p>
            <a:pPr marL="114300" indent="0">
              <a:buNone/>
            </a:pPr>
            <a:r>
              <a:rPr lang="en-US" sz="2000" dirty="0" smtClean="0"/>
              <a:t>  </a:t>
            </a:r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190747" y="1205345"/>
            <a:ext cx="4682598" cy="523701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 smtClean="0"/>
              <a:t>class </a:t>
            </a:r>
            <a:r>
              <a:rPr lang="en-US" sz="2000" dirty="0"/>
              <a:t>TestThis2{  </a:t>
            </a:r>
          </a:p>
          <a:p>
            <a:pPr marL="114300" indent="0">
              <a:buNone/>
            </a:pPr>
            <a:r>
              <a:rPr lang="en-US" sz="2000" dirty="0"/>
              <a:t>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[]){  </a:t>
            </a:r>
          </a:p>
          <a:p>
            <a:pPr marL="114300" indent="0">
              <a:buNone/>
            </a:pPr>
            <a:r>
              <a:rPr lang="en-US" sz="2000" dirty="0"/>
              <a:t>Student s1=new Student(111,"ankit",5000f);  </a:t>
            </a:r>
          </a:p>
          <a:p>
            <a:pPr marL="114300" indent="0">
              <a:buNone/>
            </a:pPr>
            <a:r>
              <a:rPr lang="en-US" sz="2000" dirty="0"/>
              <a:t>Student s2=new Student(112,"sumit",6000f);  </a:t>
            </a:r>
          </a:p>
          <a:p>
            <a:pPr marL="114300" indent="0">
              <a:buNone/>
            </a:pPr>
            <a:r>
              <a:rPr lang="en-US" sz="2000" dirty="0"/>
              <a:t>s1.display();  </a:t>
            </a:r>
          </a:p>
          <a:p>
            <a:pPr marL="114300" indent="0">
              <a:buNone/>
            </a:pPr>
            <a:r>
              <a:rPr lang="en-US" sz="2000" dirty="0"/>
              <a:t>s2.display();  </a:t>
            </a:r>
          </a:p>
          <a:p>
            <a:pPr marL="114300" indent="0">
              <a:buNone/>
            </a:pPr>
            <a:r>
              <a:rPr lang="en-US" sz="2000" dirty="0"/>
              <a:t>}}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4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2181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496291"/>
            <a:ext cx="8915400" cy="4414931"/>
          </a:xfrm>
        </p:spPr>
        <p:txBody>
          <a:bodyPr/>
          <a:lstStyle/>
          <a:p>
            <a:pPr marL="114300" indent="0">
              <a:buNone/>
            </a:pPr>
            <a:r>
              <a:rPr lang="fi-FI" dirty="0"/>
              <a:t>111 ankit 5000.0</a:t>
            </a:r>
          </a:p>
          <a:p>
            <a:pPr marL="114300" indent="0">
              <a:buNone/>
            </a:pPr>
            <a:r>
              <a:rPr lang="fi-FI" dirty="0"/>
              <a:t>112 sumit 6000.0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270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9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2) this: to invoke current class method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745673"/>
            <a:ext cx="8258897" cy="393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08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56" y="374073"/>
            <a:ext cx="9658244" cy="651163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025237"/>
            <a:ext cx="5226676" cy="556952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dirty="0"/>
              <a:t>class A{  </a:t>
            </a:r>
          </a:p>
          <a:p>
            <a:pPr marL="114300" indent="0">
              <a:buNone/>
            </a:pPr>
            <a:r>
              <a:rPr lang="en-US" dirty="0"/>
              <a:t>void m(){</a:t>
            </a:r>
            <a:r>
              <a:rPr lang="en-US" dirty="0" err="1"/>
              <a:t>System.out.println</a:t>
            </a:r>
            <a:r>
              <a:rPr lang="en-US" dirty="0"/>
              <a:t>("hello m");}  </a:t>
            </a:r>
          </a:p>
          <a:p>
            <a:pPr marL="114300" indent="0">
              <a:buNone/>
            </a:pPr>
            <a:r>
              <a:rPr lang="en-US" dirty="0"/>
              <a:t>void n(){  </a:t>
            </a:r>
          </a:p>
          <a:p>
            <a:pPr marL="11430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("hello n");  </a:t>
            </a:r>
          </a:p>
          <a:p>
            <a:pPr marL="114300" indent="0">
              <a:buNone/>
            </a:pPr>
            <a:r>
              <a:rPr lang="en-US" dirty="0"/>
              <a:t>//m();//same as </a:t>
            </a:r>
            <a:r>
              <a:rPr lang="en-US" dirty="0" err="1"/>
              <a:t>this.m</a:t>
            </a:r>
            <a:r>
              <a:rPr lang="en-US" dirty="0"/>
              <a:t>()  </a:t>
            </a:r>
          </a:p>
          <a:p>
            <a:pPr marL="114300" indent="0">
              <a:buNone/>
            </a:pPr>
            <a:r>
              <a:rPr lang="en-US" dirty="0" err="1"/>
              <a:t>this.m</a:t>
            </a:r>
            <a:r>
              <a:rPr lang="en-US" dirty="0"/>
              <a:t>();  </a:t>
            </a:r>
          </a:p>
          <a:p>
            <a:pPr marL="114300" indent="0">
              <a:buNone/>
            </a:pPr>
            <a:r>
              <a:rPr lang="en-US" dirty="0"/>
              <a:t>}  </a:t>
            </a:r>
          </a:p>
          <a:p>
            <a:pPr marL="114300" indent="0">
              <a:buNone/>
            </a:pPr>
            <a:r>
              <a:rPr lang="en-US" dirty="0"/>
              <a:t>}  </a:t>
            </a:r>
          </a:p>
          <a:p>
            <a:pPr marL="114300" indent="0">
              <a:buNone/>
            </a:pPr>
            <a:r>
              <a:rPr lang="en-US" dirty="0"/>
              <a:t>class TestThis4{  </a:t>
            </a:r>
          </a:p>
          <a:p>
            <a:pPr marL="11430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114300" indent="0">
              <a:buNone/>
            </a:pPr>
            <a:r>
              <a:rPr lang="en-US" dirty="0"/>
              <a:t>A a=new A();  </a:t>
            </a:r>
          </a:p>
          <a:p>
            <a:pPr marL="114300" indent="0">
              <a:buNone/>
            </a:pPr>
            <a:r>
              <a:rPr lang="en-US" dirty="0" err="1"/>
              <a:t>a.n</a:t>
            </a:r>
            <a:r>
              <a:rPr lang="en-US" dirty="0"/>
              <a:t>();  </a:t>
            </a:r>
          </a:p>
          <a:p>
            <a:pPr marL="114300" indent="0">
              <a:buNone/>
            </a:pPr>
            <a:r>
              <a:rPr lang="en-US" dirty="0"/>
              <a:t>}} </a:t>
            </a:r>
            <a:r>
              <a:rPr lang="en-US" sz="2000" dirty="0" smtClean="0"/>
              <a:t>  </a:t>
            </a:r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190747" y="1205345"/>
            <a:ext cx="4682598" cy="523701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Output</a:t>
            </a:r>
            <a:r>
              <a:rPr lang="en-US" sz="2000" b="1" dirty="0" smtClean="0"/>
              <a:t>: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dirty="0"/>
              <a:t>hello n</a:t>
            </a:r>
          </a:p>
          <a:p>
            <a:pPr marL="114300" indent="0">
              <a:buNone/>
            </a:pPr>
            <a:r>
              <a:rPr lang="en-US" dirty="0"/>
              <a:t>hello m</a:t>
            </a:r>
          </a:p>
        </p:txBody>
      </p:sp>
    </p:spTree>
    <p:extLst>
      <p:ext uri="{BB962C8B-B14F-4D97-AF65-F5344CB8AC3E}">
        <p14:creationId xmlns:p14="http://schemas.microsoft.com/office/powerpoint/2010/main" val="3113549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290946"/>
            <a:ext cx="8911687" cy="6234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3) this() : to invoke current class constructor</a:t>
            </a: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1094509"/>
            <a:ext cx="8915400" cy="5763491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class A{  </a:t>
            </a:r>
          </a:p>
          <a:p>
            <a:pPr marL="114300" indent="0">
              <a:buNone/>
            </a:pPr>
            <a:r>
              <a:rPr lang="en-US" dirty="0"/>
              <a:t>A(){</a:t>
            </a:r>
            <a:r>
              <a:rPr lang="en-US" dirty="0" err="1"/>
              <a:t>System.out.println</a:t>
            </a:r>
            <a:r>
              <a:rPr lang="en-US" dirty="0"/>
              <a:t>("hello a");}  </a:t>
            </a:r>
          </a:p>
          <a:p>
            <a:pPr marL="114300" indent="0">
              <a:buNone/>
            </a:pPr>
            <a:r>
              <a:rPr lang="en-US" dirty="0"/>
              <a:t>A(</a:t>
            </a:r>
            <a:r>
              <a:rPr lang="en-US" dirty="0" err="1"/>
              <a:t>int</a:t>
            </a:r>
            <a:r>
              <a:rPr lang="en-US" dirty="0"/>
              <a:t> x){  </a:t>
            </a:r>
          </a:p>
          <a:p>
            <a:pPr marL="114300" indent="0">
              <a:buNone/>
            </a:pPr>
            <a:r>
              <a:rPr lang="en-US" dirty="0"/>
              <a:t>this();  </a:t>
            </a:r>
          </a:p>
          <a:p>
            <a:pPr marL="11430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(x);  </a:t>
            </a:r>
          </a:p>
          <a:p>
            <a:pPr marL="114300" indent="0">
              <a:buNone/>
            </a:pPr>
            <a:r>
              <a:rPr lang="en-US" dirty="0"/>
              <a:t>}  </a:t>
            </a:r>
          </a:p>
          <a:p>
            <a:pPr marL="114300" indent="0">
              <a:buNone/>
            </a:pPr>
            <a:r>
              <a:rPr lang="en-US" dirty="0"/>
              <a:t>}  </a:t>
            </a:r>
          </a:p>
          <a:p>
            <a:pPr marL="114300" indent="0">
              <a:buNone/>
            </a:pPr>
            <a:r>
              <a:rPr lang="en-US" dirty="0"/>
              <a:t>class TestThis5{  </a:t>
            </a:r>
          </a:p>
          <a:p>
            <a:pPr marL="11430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114300" indent="0">
              <a:buNone/>
            </a:pPr>
            <a:r>
              <a:rPr lang="en-US" dirty="0"/>
              <a:t>A a=new A(10);  </a:t>
            </a:r>
          </a:p>
          <a:p>
            <a:pPr marL="114300" indent="0">
              <a:buNone/>
            </a:pPr>
            <a:r>
              <a:rPr lang="en-US" dirty="0"/>
              <a:t>}} </a:t>
            </a:r>
            <a:endParaRPr lang="en-US" dirty="0" smtClean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sz="2400" b="1" dirty="0"/>
              <a:t>Output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 marL="571500" lvl="1" indent="0">
              <a:buNone/>
            </a:pPr>
            <a:r>
              <a:rPr lang="en-US" sz="2600" dirty="0"/>
              <a:t>hello a</a:t>
            </a:r>
          </a:p>
          <a:p>
            <a:pPr marL="571500" lvl="1" indent="0">
              <a:buNone/>
            </a:pPr>
            <a:r>
              <a:rPr lang="en-US" sz="2600" dirty="0"/>
              <a:t>10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70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637309"/>
            <a:ext cx="8915400" cy="581890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class</a:t>
            </a:r>
            <a:r>
              <a:rPr lang="en-US" dirty="0"/>
              <a:t> A{  </a:t>
            </a:r>
          </a:p>
          <a:p>
            <a:pPr marL="114300" indent="0">
              <a:buNone/>
            </a:pPr>
            <a:r>
              <a:rPr lang="en-US" dirty="0"/>
              <a:t>A(){  </a:t>
            </a:r>
          </a:p>
          <a:p>
            <a:pPr marL="114300" indent="0">
              <a:buNone/>
            </a:pPr>
            <a:r>
              <a:rPr lang="en-US" b="1" dirty="0"/>
              <a:t>this</a:t>
            </a:r>
            <a:r>
              <a:rPr lang="en-US" dirty="0"/>
              <a:t>(5);  </a:t>
            </a:r>
          </a:p>
          <a:p>
            <a:pPr marL="11430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("hello a");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r>
              <a:rPr lang="en-US" dirty="0"/>
              <a:t>A(</a:t>
            </a:r>
            <a:r>
              <a:rPr lang="en-US" b="1" dirty="0" err="1"/>
              <a:t>int</a:t>
            </a:r>
            <a:r>
              <a:rPr lang="en-US" dirty="0"/>
              <a:t> x){  </a:t>
            </a:r>
          </a:p>
          <a:p>
            <a:pPr marL="11430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(x);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r>
              <a:rPr lang="en-US" dirty="0"/>
              <a:t>}  </a:t>
            </a:r>
          </a:p>
          <a:p>
            <a:pPr marL="114300" indent="0">
              <a:buNone/>
            </a:pPr>
            <a:r>
              <a:rPr lang="en-US" b="1" dirty="0"/>
              <a:t>class</a:t>
            </a:r>
            <a:r>
              <a:rPr lang="en-US" dirty="0"/>
              <a:t> TestThis6{  </a:t>
            </a:r>
          </a:p>
          <a:p>
            <a:pPr marL="11430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114300" indent="0">
              <a:buNone/>
            </a:pPr>
            <a:r>
              <a:rPr lang="en-US" dirty="0"/>
              <a:t>A a=</a:t>
            </a:r>
            <a:r>
              <a:rPr lang="en-US" b="1" dirty="0"/>
              <a:t>new</a:t>
            </a:r>
            <a:r>
              <a:rPr lang="en-US" dirty="0"/>
              <a:t> A();  </a:t>
            </a:r>
          </a:p>
          <a:p>
            <a:pPr marL="114300" indent="0">
              <a:buNone/>
            </a:pPr>
            <a:r>
              <a:rPr lang="en-US" dirty="0"/>
              <a:t>}}  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26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674</Words>
  <Application>Microsoft Office PowerPoint</Application>
  <PresentationFormat>Widescreen</PresentationFormat>
  <Paragraphs>187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Times New Roman</vt:lpstr>
      <vt:lpstr>Arial</vt:lpstr>
      <vt:lpstr>Century Gothic</vt:lpstr>
      <vt:lpstr>Noto Sans Symbols</vt:lpstr>
      <vt:lpstr>Wingdings</vt:lpstr>
      <vt:lpstr>Wisp</vt:lpstr>
      <vt:lpstr>Object Oriented Programming -I</vt:lpstr>
      <vt:lpstr>Static keyword </vt:lpstr>
      <vt:lpstr>1) Static variable </vt:lpstr>
      <vt:lpstr>Example of static variable</vt:lpstr>
      <vt:lpstr>Output:</vt:lpstr>
      <vt:lpstr>PowerPoint Presentation</vt:lpstr>
      <vt:lpstr>2) Static method </vt:lpstr>
      <vt:lpstr>Example of static method</vt:lpstr>
      <vt:lpstr>Output:</vt:lpstr>
      <vt:lpstr>Another example of a static method</vt:lpstr>
      <vt:lpstr>Restrictions for the static method </vt:lpstr>
      <vt:lpstr>3) Static block </vt:lpstr>
      <vt:lpstr>this keyword </vt:lpstr>
      <vt:lpstr>Usage of Java this keyword </vt:lpstr>
      <vt:lpstr>1) this: to refer current class instance variable </vt:lpstr>
      <vt:lpstr>Example</vt:lpstr>
      <vt:lpstr>Output:</vt:lpstr>
      <vt:lpstr>2) this: to invoke current class method  </vt:lpstr>
      <vt:lpstr>Example</vt:lpstr>
      <vt:lpstr>3) this() : to invoke current class constructor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-I</dc:title>
  <dc:creator>Student</dc:creator>
  <cp:lastModifiedBy>Student</cp:lastModifiedBy>
  <cp:revision>54</cp:revision>
  <dcterms:created xsi:type="dcterms:W3CDTF">2024-02-10T06:26:40Z</dcterms:created>
  <dcterms:modified xsi:type="dcterms:W3CDTF">2024-02-28T05:58:57Z</dcterms:modified>
</cp:coreProperties>
</file>